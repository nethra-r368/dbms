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  <p:sldId id="272" r:id="rId23"/>
    <p:sldId id="273" r:id="rId24"/>
    <p:sldId id="274" r:id="rId25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CLOUD-ENABLED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SmartHostel Management System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multi-tenant, cloud-integrated DBMS application for modern campus living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526280"/>
            <a:ext cx="2194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09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integration  ·  Scalability  ·  Secure remote access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of Hostel Operations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logs, room bookings, inventory tracking, leave passes, and fee billing are traditionally handled offline or on siloed local systems — slow, error-prone, and hard to access.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SmartHostel replaces this with one unified, cloud-hosted dashboard.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23444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0" y="13990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 Access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0" y="176479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from any laptop, device, or campus location, any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6517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28163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 Concurrency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318211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wardens, and admins query and update data simultaneously.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406908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42336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State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0" y="45994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managed source of truth — no local data loss.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 Architecture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6479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76479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lightweight Single Page Application (Vite / JS) running in the browser.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4340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13639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313639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Hosting (PaaS)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47472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deployed to a serverless platform — proposed: Azure App Service, containerized Python 3.12.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4340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50799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450799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Database (DBaaS)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484632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database on Azure Database for PostgreSQL Flexible Server.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0" y="1600200"/>
            <a:ext cx="2862072" cy="3794760"/>
          </a:xfrm>
          <a:prstGeom prst="roundRect">
            <a:avLst>
              <a:gd name="adj" fmla="val 2556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52560" y="1828800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Cloud Benefits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52560" y="2331720"/>
            <a:ext cx="23134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scalability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storage kept separate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NETWORKING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Security and Access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3736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Transport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transit is encrypted via SSL/TLS (sslmode=require enforced on every PostgreSQL connection string).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8105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73736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Firewall Whitelisting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database enforces a strict incoming firewall — only approved developer, client, and server IPs are allowed.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233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605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Bypassing Campus Restrictions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virtual tunnels (e.g. Cloudflare WARP / VPN) route around restrictive institutional network firewalls.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4233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1605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 are generated on the server and verified on every API request.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&amp; Scalable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19659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965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vanilla CSS3 (custom glassmorphism design), JavaScript — built with Vite.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0" y="2194560"/>
            <a:ext cx="19659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331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971800"/>
            <a:ext cx="1965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FastAPI (high-performance ASGI framework), Pydantic for request validation.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194560"/>
            <a:ext cx="19659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31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971800"/>
            <a:ext cx="1965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Azure Flexible Server tier, compatible with PostgreSQL 16+.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0" y="2194560"/>
            <a:ext cx="19659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2331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ORM &amp; Driver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0" y="2971800"/>
            <a:ext cx="1965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for object-relational mapping, psycopg2-binary as the native driver.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Roles &amp; Administrative Authority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013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monitoring dashboard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registration — add hostels, add rooms, assign wardens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assets — log and monitor furniture and utility inventories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166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013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financial report metrics — total dues, collected fees, pending balances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— generate fee invoices linked to specific room categories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overrides — register offline / cash payments and update ledgers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Warden Operations — Hostel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allocations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students to rooms and process vacates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resolution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and update maintenance request statuses — electrical, plumbing, wifi, and more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and passes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deny student home and out-pass requests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logging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student attendance and manage visitor check-in / check-out logs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223760" y="1691640"/>
            <a:ext cx="4416552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43800" y="1965960"/>
            <a:ext cx="3776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543800" y="274320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responsibility areas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43800" y="3383280"/>
            <a:ext cx="377647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Wardens are the operational backbone — the single role connecting day-to-day student life to the system.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Operations — Self-Service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&amp; Roommates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50008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allocated room details and roommate information.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2350008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maintenance complaints directly from mobile or laptop.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&amp; Passes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58200" y="2350008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out-pass and leave requests for approval.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114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Fees &amp; Payments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590288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invoices through integrated mock payments and view fee history.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4114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 Feedback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4590288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weekly feedback on food quality, taste, and cleanliness.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— 19 Tables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0992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Accounts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709928"/>
            <a:ext cx="7525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student · warden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55117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Hostel Infrastructure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551176"/>
            <a:ext cx="7525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· room · room_allocation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39242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Ledgers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392424"/>
            <a:ext cx="7525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fee_structure · student_fee · payment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23944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233672"/>
            <a:ext cx="292608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Loggers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4233672"/>
            <a:ext cx="7525512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· visitor · leave_request · room_change_request · attendance · notice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7550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28523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&amp; Utility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5285232"/>
            <a:ext cx="7525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· inventory_transaction · mess_menu · mess_feedback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Integrity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Foreign-key relationships across the 19 tables are enforced with deliberate delete rules, keeping the dataset consistent as hostels, rooms, and students change over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2004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DELETE CASCADE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54787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records (e.g. allocations, payments) are cleaned up automatically when their parent record is removed.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617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DELETE RESTRICT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9651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deletion of a record while dependent records still reference it — stops accidental data fragmentation.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1554480"/>
            <a:ext cx="4690872" cy="4526280"/>
          </a:xfrm>
          <a:prstGeom prst="roundRect">
            <a:avLst>
              <a:gd name="adj" fmla="val 1616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1783080"/>
            <a:ext cx="4142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Chain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23760" y="2286000"/>
            <a:ext cx="4142232" cy="457200"/>
          </a:xfrm>
          <a:prstGeom prst="roundRect">
            <a:avLst>
              <a:gd name="adj" fmla="val 12000"/>
            </a:avLst>
          </a:prstGeom>
          <a:solidFill>
            <a:srgbClr val="2E3A80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228600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57716" y="276148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2990088"/>
            <a:ext cx="4142232" cy="457200"/>
          </a:xfrm>
          <a:prstGeom prst="roundRect">
            <a:avLst>
              <a:gd name="adj" fmla="val 12000"/>
            </a:avLst>
          </a:prstGeom>
          <a:solidFill>
            <a:srgbClr val="2E3A80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990088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57716" y="346557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3694176"/>
            <a:ext cx="4142232" cy="457200"/>
          </a:xfrm>
          <a:prstGeom prst="roundRect">
            <a:avLst>
              <a:gd name="adj" fmla="val 12000"/>
            </a:avLst>
          </a:prstGeom>
          <a:solidFill>
            <a:srgbClr val="2E3A80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3694176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room_allocation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57716" y="416966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23760" y="4398264"/>
            <a:ext cx="4142232" cy="457200"/>
          </a:xfrm>
          <a:prstGeom prst="roundRect">
            <a:avLst>
              <a:gd name="adj" fmla="val 12000"/>
            </a:avLst>
          </a:prstGeom>
          <a:solidFill>
            <a:srgbClr val="2E3A80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4398264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student_fee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57716" y="48737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5102352"/>
            <a:ext cx="4142232" cy="457200"/>
          </a:xfrm>
          <a:prstGeom prst="roundRect">
            <a:avLst>
              <a:gd name="adj" fmla="val 12000"/>
            </a:avLst>
          </a:prstGeom>
          <a:solidFill>
            <a:srgbClr val="2E3A80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5102352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Logic for Data Integrity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647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trg_update_room_occupancy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902952" y="17830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9902952" y="1783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room_allocation updates — automatically increments or decrements bed counts and shifts room status between AVAILABLE and FULL.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3649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trg_update_payment_status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902952" y="33832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9902952" y="3383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767328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payment insertions — aggregates payments and updates invoice status dynamically to PAID, PARTIAL, or PENDING.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allocate_room( 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902952" y="49834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9902952" y="49834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5367528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student status and room vacancy, then atomically updates tables, terminates old allocations, and commits the transaction.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350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 Frontend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6791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 App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3063240"/>
            <a:ext cx="306324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Static Web Apps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distribution, low-cost static hosting.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87368" y="3474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2350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17720" y="26791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App Service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3063240"/>
            <a:ext cx="306324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 (Linux PaaS)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17720" y="384048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from GitHub, automated certificate management.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27848" y="3474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5820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58200" y="2350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Database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458200" y="26791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Database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58200" y="3063240"/>
            <a:ext cx="306324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Database for PostgreSQL — Flexible Server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58200" y="384048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private connection, automatic daily snapshots.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mobile client for students, built on the same FastAPI backend.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313432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revenue, and complaint-trend reporting for administrators.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9959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16552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or SMS alerts for dues, approvals, and notices.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9959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Gateway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416552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mock payments with a live gateway integration for real fee collection.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Cloud Matters for SmartHostel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Availability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downtime — accessible 24/7 from anywhere on or off campus.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313432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hostels, blocks, and thousands of student records added without friction.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9959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16552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IP whitelists and SSL keep student profiles and transactions protected.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9959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Maintenance-Free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416552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Cloud-managed scaling, backups, and networking remove physical server overhead.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SmartHostel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Cloud-Enabled SmartHostel Management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977640"/>
            <a:ext cx="2194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DATABASE DESIGN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UML Class Diagram — System Architecture &amp; Multiplicities</a:t>
            </a:r>
          </a:p>
        </p:txBody>
      </p:sp>
      <p:pic>
        <p:nvPicPr>
          <p:cNvPr id="3" name="Picture 2" descr="um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7132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DATABASE DESIGN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Relational Schema — 19 Core Tables &amp; Referential Integrity</a:t>
            </a:r>
          </a:p>
        </p:txBody>
      </p:sp>
      <p:pic>
        <p:nvPicPr>
          <p:cNvPr id="3" name="Picture 2" descr="relational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82670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DATABASE DESIGN &amp; ENTITY RELATIONSHIP</a:t>
            </a:r>
          </a:p>
          <a:p>
            <a:pPr>
              <a:spcAft>
                <a:spcPts val="1400"/>
              </a:spcAft>
              <a:defRPr sz="2200" b="1">
                <a:solidFill>
                  <a:srgbClr val="0F172A"/>
                </a:solidFill>
              </a:defRPr>
            </a:pPr>
            <a:r>
              <a:t>Entity-Relationship (ER) Model — Entities, Attributes &amp; Cardinalities</a:t>
            </a:r>
          </a:p>
          <a:p>
            <a:pPr>
              <a:defRPr b="1" sz="1400">
                <a:solidFill>
                  <a:srgbClr val="0F172A"/>
                </a:solidFill>
              </a:defRPr>
            </a:pPr>
            <a:r>
              <a:t>• Core Entities &amp; Strong Types: </a:t>
            </a:r>
          </a:p>
          <a:p>
            <a:pPr>
              <a:spcAft>
                <a:spcPts val="1000"/>
              </a:spcAft>
              <a:defRPr sz="1250">
                <a:solidFill>
                  <a:srgbClr val="334155"/>
                </a:solidFill>
              </a:defRPr>
            </a:pPr>
            <a:r>
              <a:t>   USERS, STUDENT, WARDEN, HOSTEL, ROOM, FEE_STRUCTURE, NOTICE, INVENTORY, MESS_MENU.</a:t>
            </a:r>
          </a:p>
          <a:p>
            <a:pPr>
              <a:defRPr b="1" sz="1400">
                <a:solidFill>
                  <a:srgbClr val="0F172A"/>
                </a:solidFill>
              </a:defRPr>
            </a:pPr>
            <a:r>
              <a:t>• Weak &amp; Temporal Junction Entities: </a:t>
            </a:r>
          </a:p>
          <a:p>
            <a:pPr>
              <a:spcAft>
                <a:spcPts val="1000"/>
              </a:spcAft>
              <a:defRPr sz="1250">
                <a:solidFill>
                  <a:srgbClr val="334155"/>
                </a:solidFill>
              </a:defRPr>
            </a:pPr>
            <a:r>
              <a:t>   ROOM_ALLOCATION (associates Student to Room over time), STUDENT_FEE (instance bills), PAYMENT (settlement audit), INVENTORY_TRANSACTION (stock delta), ROOM_CHANGE_REQUEST.</a:t>
            </a:r>
          </a:p>
          <a:p>
            <a:pPr>
              <a:defRPr b="1" sz="1400">
                <a:solidFill>
                  <a:srgbClr val="0F172A"/>
                </a:solidFill>
              </a:defRPr>
            </a:pPr>
            <a:r>
              <a:t>• Multiplicity &amp; Participation: </a:t>
            </a:r>
          </a:p>
          <a:p>
            <a:pPr>
              <a:spcAft>
                <a:spcPts val="1000"/>
              </a:spcAft>
              <a:defRPr sz="1250">
                <a:solidFill>
                  <a:srgbClr val="334155"/>
                </a:solidFill>
              </a:defRPr>
            </a:pPr>
            <a:r>
              <a:t>   • USERS to STUDENT / WARDEN: 1 : (0..1) optional total participation</a:t>
            </a:r>
            <a:br/>
            <a:r>
              <a:t>• HOSTEL to ROOM: 1 : N (mandatory existence)</a:t>
            </a:r>
            <a:br/>
            <a:r>
              <a:t>• STUDENT to ROOM_ALLOCATION: 1 : N (tracks residency history)</a:t>
            </a:r>
            <a:br/>
            <a:r>
              <a:t>• FEE_STRUCTURE to STUDENT_FEE: 1 : N rate billing</a:t>
            </a:r>
            <a:br/>
            <a:r>
              <a:t>• STUDENT_FEE to PAYMENT: 1 : N partial and full settlement logs</a:t>
            </a:r>
          </a:p>
          <a:p>
            <a:pPr>
              <a:defRPr b="1" sz="1400">
                <a:solidFill>
                  <a:srgbClr val="0F172A"/>
                </a:solidFill>
              </a:defRPr>
            </a:pPr>
            <a:r>
              <a:t>• Referential Integrity Rules: </a:t>
            </a:r>
          </a:p>
          <a:p>
            <a:pPr>
              <a:spcAft>
                <a:spcPts val="1000"/>
              </a:spcAft>
              <a:defRPr sz="1250">
                <a:solidFill>
                  <a:srgbClr val="334155"/>
                </a:solidFill>
              </a:defRPr>
            </a:pPr>
            <a:r>
              <a:t>   • ON DELETE CASCADE: Purges child allocations, complaints, passes upon student exit.</a:t>
            </a:r>
            <a:br/>
            <a:r>
              <a:t>• ON DELETE SET NULL: Preserves historical records when wardens depart.</a:t>
            </a:r>
            <a:br/>
            <a:r>
              <a:t>• ON DELETE RESTRICT: Protects fee structures from deletion while active student dues exist.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DATABASE DESIGN &amp; FORMAL VALIDATION</a:t>
            </a:r>
          </a:p>
          <a:p>
            <a:pPr>
              <a:spcAft>
                <a:spcPts val="1400"/>
              </a:spcAft>
              <a:defRPr sz="2200" b="1">
                <a:solidFill>
                  <a:srgbClr val="0F172A"/>
                </a:solidFill>
              </a:defRPr>
            </a:pPr>
            <a:r>
              <a:t>Normalization Justification — Decomposition Proofs up to 3NF &amp; BCNF</a:t>
            </a:r>
          </a:p>
          <a:p>
            <a:pPr>
              <a:defRPr b="1" sz="1400">
                <a:solidFill>
                  <a:srgbClr val="0F172A"/>
                </a:solidFill>
              </a:defRPr>
            </a:pPr>
            <a:r>
              <a:t>• 1NF (First Normal Form): </a:t>
            </a:r>
          </a:p>
          <a:p>
            <a:pPr>
              <a:spcAft>
                <a:spcPts val="1000"/>
              </a:spcAft>
              <a:defRPr sz="1250">
                <a:solidFill>
                  <a:srgbClr val="334155"/>
                </a:solidFill>
              </a:defRPr>
            </a:pPr>
            <a:r>
              <a:t>   Eliminated all repeating groups and composite fields. Every column (e.g. fees, roommates) holds atomic scalar values with explicit unique primary keys.</a:t>
            </a:r>
          </a:p>
          <a:p>
            <a:pPr>
              <a:defRPr b="1" sz="1400">
                <a:solidFill>
                  <a:srgbClr val="0F172A"/>
                </a:solidFill>
              </a:defRPr>
            </a:pPr>
            <a:r>
              <a:t>• 2NF (Second Normal Form): </a:t>
            </a:r>
          </a:p>
          <a:p>
            <a:pPr>
              <a:spcAft>
                <a:spcPts val="1000"/>
              </a:spcAft>
              <a:defRPr sz="1250">
                <a:solidFill>
                  <a:srgbClr val="334155"/>
                </a:solidFill>
              </a:defRPr>
            </a:pPr>
            <a:r>
              <a:t>   Eliminated partial functional dependencies. In unnormalized allocations {StudentID, RoomID} -&gt; HostelName, RoomCapacity; separated into independent relations STUDENT, ROOM, and ROOM_ALLOCATION so non-key attributes fully depend on the entire primary key.</a:t>
            </a:r>
          </a:p>
          <a:p>
            <a:pPr>
              <a:defRPr b="1" sz="1400">
                <a:solidFill>
                  <a:srgbClr val="0F172A"/>
                </a:solidFill>
              </a:defRPr>
            </a:pPr>
            <a:r>
              <a:t>• 3NF (Third Normal Form): </a:t>
            </a:r>
          </a:p>
          <a:p>
            <a:pPr>
              <a:spcAft>
                <a:spcPts val="1000"/>
              </a:spcAft>
              <a:defRPr sz="1250">
                <a:solidFill>
                  <a:srgbClr val="334155"/>
                </a:solidFill>
              </a:defRPr>
            </a:pPr>
            <a:r>
              <a:t>   Eliminated transitive dependencies (X -&gt; Y and Y -&gt; Z). Extracted fee tariffs into FEE_STRUCTURE (RoomType -&gt; Fees) so tuition pricing does not transitively depend on individual Student records, preventing deletion anomalies.</a:t>
            </a:r>
          </a:p>
          <a:p>
            <a:pPr>
              <a:defRPr b="1" sz="1400">
                <a:solidFill>
                  <a:srgbClr val="0F172A"/>
                </a:solidFill>
              </a:defRPr>
            </a:pPr>
            <a:r>
              <a:t>• BCNF (Boyce-Codd Normal Form): </a:t>
            </a:r>
          </a:p>
          <a:p>
            <a:pPr>
              <a:spcAft>
                <a:spcPts val="1000"/>
              </a:spcAft>
              <a:defRPr sz="1250">
                <a:solidFill>
                  <a:srgbClr val="334155"/>
                </a:solidFill>
              </a:defRPr>
            </a:pPr>
            <a:r>
              <a:t>   Every non-trivial functional dependency X -&gt; Y has a candidate superkey for X. Surrogate keys (SERIAL PRIMARY KEY) and unique business keys ([UQ] roll_no, email, transaction_id) strictly enforce BCNF across all 19 schemas.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2026-08-16T16:06:26Z</dcterms:created>
  <dcterms:modified xsi:type="dcterms:W3CDTF">2026-08-16T16:06:26Z</dcterms:modified>
</cp:coreProperties>
</file>